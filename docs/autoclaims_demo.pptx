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1645920"/>
            <a:ext cx="5486400" cy="5486400"/>
          </a:xfrm>
          <a:prstGeom prst="ellipse">
            <a:avLst/>
          </a:prstGeom>
          <a:solidFill>
            <a:srgbClr val="0078D4">
              <a:alpha val="12000"/>
            </a:srgbClr>
          </a:solidFill>
          <a:ln w="12700">
            <a:solidFill>
              <a:srgbClr val="0078D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474720" cy="3474720"/>
          </a:xfrm>
          <a:prstGeom prst="ellipse">
            <a:avLst/>
          </a:prstGeom>
          <a:solidFill>
            <a:srgbClr val="005A9E">
              <a:alpha val="20000"/>
            </a:srgbClr>
          </a:solidFill>
          <a:ln w="12700">
            <a:solidFill>
              <a:srgbClr val="005A9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CF2"/>
                </a:solidFill>
              </a:rPr>
              <a:t>MICROSOFT FABRIC  ·  REAL-TIME INTELLIGENCE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Insurance Claims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B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Demo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3310128"/>
            <a:ext cx="384048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93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C4E8"/>
                </a:solidFill>
              </a:rPr>
              <a:t>Semantic graph intelligence over your Lakehouse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1E48"/>
          </a:solidFill>
          <a:ln w="12700">
            <a:solidFill>
              <a:srgbClr val="001E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ED4"/>
                </a:solidFill>
              </a:rPr>
              <a:t>Building with Microsoft Fabric  ·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68680"/>
          </a:xfrm>
          <a:prstGeom prst="rect">
            <a:avLst/>
          </a:prstGeom>
          <a:solidFill>
            <a:srgbClr val="003A6E"/>
          </a:solidFill>
          <a:ln w="12700">
            <a:solidFill>
              <a:srgbClr val="00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Ontology in Microsoft Fabric?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212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98448"/>
            <a:ext cx="438912" cy="43891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2252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2"/>
                </a:solidFill>
              </a:rPr>
              <a:t>Semantic Graph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554480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 knowledge graph that sits on top of your Fabric Lakehouse, defining Entities (tables) and the Relationships between them — turning raw Delta tables into a connected semantic model.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5212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87168"/>
            <a:ext cx="438912" cy="43891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41401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2"/>
                </a:solidFill>
              </a:rPr>
              <a:t>Entities &amp; Relationships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743200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Entities map to Lakehouse tables (Customer, Policy, Claim). Relationships define how they connect — enabling JOIN-aware queries across tables without writing SQL.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5212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675888"/>
            <a:ext cx="438912" cy="43891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75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6027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2"/>
                </a:solidFill>
              </a:rPr>
              <a:t>Natural Language Ready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931920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Powers Data Agents to understand 'Who handled the Tesla claim?' and translate it into precise multi-table graph queries automatically — no SQL, no JOINs written by hand.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0" y="1051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6E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36192"/>
            <a:ext cx="2834640" cy="548640"/>
          </a:xfrm>
          <a:prstGeom prst="rect">
            <a:avLst/>
          </a:prstGeom>
          <a:solidFill>
            <a:srgbClr val="E8F4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361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</a:rPr>
              <a:t>Lakehouse Tables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084832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2212848"/>
            <a:ext cx="2834640" cy="548640"/>
          </a:xfrm>
          <a:prstGeom prst="rect">
            <a:avLst/>
          </a:prstGeom>
          <a:solidFill>
            <a:srgbClr val="E6F9F3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2128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78"/>
                </a:solidFill>
              </a:rPr>
              <a:t>Ontology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276148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2889504"/>
            <a:ext cx="2834640" cy="548640"/>
          </a:xfrm>
          <a:prstGeom prst="rect">
            <a:avLst/>
          </a:prstGeom>
          <a:solidFill>
            <a:srgbClr val="FFF0E8"/>
          </a:solidFill>
          <a:ln w="12700">
            <a:solidFill>
              <a:srgbClr val="F481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8895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812A"/>
                </a:solidFill>
              </a:rPr>
              <a:t>Data Agent (AI)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3438144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3566160"/>
            <a:ext cx="2834640" cy="548640"/>
          </a:xfrm>
          <a:prstGeom prst="rect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Business Answers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8F0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914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Part of Microsoft Fabric Real-Time Intelligence  ·  Defined via Fabric REST API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68680"/>
          </a:xfrm>
          <a:prstGeom prst="rect">
            <a:avLst/>
          </a:prstGeom>
          <a:solidFill>
            <a:srgbClr val="003A6E"/>
          </a:solidFill>
          <a:ln w="12700">
            <a:solidFill>
              <a:srgbClr val="00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Agents  +  Ontology as a Source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325880" cy="1170432"/>
          </a:xfrm>
          <a:prstGeom prst="rect">
            <a:avLst/>
          </a:prstGeom>
          <a:solidFill>
            <a:srgbClr val="F0EEFF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261872"/>
            <a:ext cx="457200" cy="457200"/>
          </a:xfrm>
          <a:prstGeom prst="ellipse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FE8"/>
                </a:solidFill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4FE8"/>
                </a:solidFill>
              </a:rPr>
              <a:t>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51790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BCCDD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30552" y="1170432"/>
            <a:ext cx="1325880" cy="1170432"/>
          </a:xfrm>
          <a:prstGeom prst="rect">
            <a:avLst/>
          </a:prstGeom>
          <a:solidFill>
            <a:srgbClr val="E8F4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261872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30552" y="177393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Agent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02152" y="151790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BCCDD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03904" y="1170432"/>
            <a:ext cx="1325880" cy="1170432"/>
          </a:xfrm>
          <a:prstGeom prst="rect">
            <a:avLst/>
          </a:prstGeom>
          <a:solidFill>
            <a:srgbClr val="E6F9F3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3672" y="1261872"/>
            <a:ext cx="457200" cy="45720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03904" y="177393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Ontology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75504" y="151790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BCCDD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77256" y="1170432"/>
            <a:ext cx="1325880" cy="1170432"/>
          </a:xfrm>
          <a:prstGeom prst="rect">
            <a:avLst/>
          </a:prstGeom>
          <a:solidFill>
            <a:srgbClr val="FFF0E8"/>
          </a:solidFill>
          <a:ln w="12700">
            <a:solidFill>
              <a:srgbClr val="F481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1261872"/>
            <a:ext cx="457200" cy="457200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7024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77256" y="177393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812A"/>
                </a:solidFill>
              </a:rPr>
              <a:t>JOIN-Aware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812A"/>
                </a:solidFill>
              </a:rPr>
              <a:t>SQL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48856" y="151790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BCCDD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150608" y="1170432"/>
            <a:ext cx="1325880" cy="117043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0376" y="1261872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0376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50608" y="177393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Business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Answer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25420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6E"/>
                </a:solidFill>
              </a:rPr>
              <a:t>Why Ontology Changes Everything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2944368"/>
            <a:ext cx="2633472" cy="16916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944368"/>
            <a:ext cx="54864" cy="1691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301752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6E"/>
                </a:solidFill>
              </a:rPr>
              <a:t>Zero-SQL Joins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" y="3364992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The agent understands Customer → Policy → Claim relationships automatically — no manual SQL JOINs required from the user or the AI.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55264" y="2944368"/>
            <a:ext cx="2633472" cy="16916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8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55264" y="2944368"/>
            <a:ext cx="54864" cy="1691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01752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6E"/>
                </a:solidFill>
              </a:rPr>
              <a:t>Relationship-Aware AI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83280" y="3364992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Graph traversals enable multi-hop questions your data warehouse alone can't answer in a single table scan.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4768" y="2944368"/>
            <a:ext cx="2633472" cy="16916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8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44768" y="2944368"/>
            <a:ext cx="54864" cy="1691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301752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6E"/>
                </a:solidFill>
              </a:rPr>
              <a:t>Governed &amp; Semantic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72784" y="3364992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Entity definitions enforce consistent business naming and rules across all downstream queries and data products.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8F0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914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Fabric Data Agents support Ontology, KQL Database, Lakehouse, and SQL Endpoint as sources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68680"/>
          </a:xfrm>
          <a:prstGeom prst="rect">
            <a:avLst/>
          </a:prstGeom>
          <a:solidFill>
            <a:srgbClr val="003A6E"/>
          </a:solidFill>
          <a:ln w="12700">
            <a:solidFill>
              <a:srgbClr val="00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Auto Insurance Claims Ontology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828800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CFF"/>
                </a:solidFill>
              </a:rPr>
              <a:t>Entities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23744" y="1078992"/>
            <a:ext cx="1828800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1078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23744" y="1463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CFF"/>
                </a:solidFill>
              </a:rPr>
              <a:t>Relationships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90288" y="1078992"/>
            <a:ext cx="1828800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078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90288" y="1463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CFF"/>
                </a:solidFill>
              </a:rPr>
              <a:t>Sample Claims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56832" y="1078992"/>
            <a:ext cx="1828800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1078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56832" y="1463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CFF"/>
                </a:solidFill>
              </a:rPr>
              <a:t>Customers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1901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6E"/>
                </a:solidFill>
              </a:rPr>
              <a:t>Dimension Entities  (8)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40280"/>
            <a:ext cx="208483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240280"/>
            <a:ext cx="54864" cy="4297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24028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2"/>
                </a:solidFill>
              </a:rPr>
              <a:t>Customer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70048" y="2240280"/>
            <a:ext cx="208483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70048" y="2240280"/>
            <a:ext cx="54864" cy="4297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9776" y="224028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2"/>
                </a:solidFill>
              </a:rPr>
              <a:t>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788920"/>
            <a:ext cx="208483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88920"/>
            <a:ext cx="54864" cy="4297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78892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2"/>
                </a:solidFill>
              </a:rPr>
              <a:t>Adjuster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70048" y="2788920"/>
            <a:ext cx="208483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70048" y="2788920"/>
            <a:ext cx="54864" cy="4297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9776" y="278892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2"/>
                </a:solidFill>
              </a:rPr>
              <a:t>Policy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337560"/>
            <a:ext cx="208483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337560"/>
            <a:ext cx="54864" cy="4297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33756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2"/>
                </a:solidFill>
              </a:rPr>
              <a:t>Coverage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70048" y="3337560"/>
            <a:ext cx="208483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70048" y="3337560"/>
            <a:ext cx="54864" cy="4297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79776" y="333756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2"/>
                </a:solidFill>
              </a:rPr>
              <a:t>Vehicle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886200"/>
            <a:ext cx="208483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886200"/>
            <a:ext cx="54864" cy="4297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88620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2"/>
                </a:solidFill>
              </a:rPr>
              <a:t>Incident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70048" y="3886200"/>
            <a:ext cx="208483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0048" y="3886200"/>
            <a:ext cx="54864" cy="4297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79776" y="388620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942"/>
                </a:solidFill>
              </a:rPr>
              <a:t>RepairShop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7492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6E"/>
                </a:solidFill>
              </a:rPr>
              <a:t>Fact Entities  (2)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74920" y="2240280"/>
            <a:ext cx="3566160" cy="530352"/>
          </a:xfrm>
          <a:prstGeom prst="rect">
            <a:avLst/>
          </a:prstGeom>
          <a:solidFill>
            <a:srgbClr val="FFFBF0"/>
          </a:solidFill>
          <a:ln w="12700">
            <a:solidFill>
              <a:srgbClr val="F481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74920" y="2240280"/>
            <a:ext cx="73152" cy="530352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224028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812A"/>
                </a:solidFill>
              </a:rPr>
              <a:t>Claim (Fact)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74920" y="2898648"/>
            <a:ext cx="3566160" cy="530352"/>
          </a:xfrm>
          <a:prstGeom prst="rect">
            <a:avLst/>
          </a:prstGeom>
          <a:solidFill>
            <a:srgbClr val="FFFBF0"/>
          </a:solidFill>
          <a:ln w="12700">
            <a:solidFill>
              <a:srgbClr val="F481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74920" y="2898648"/>
            <a:ext cx="73152" cy="530352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0" y="289864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812A"/>
                </a:solidFill>
              </a:rPr>
              <a:t>Payment (Fact)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74920" y="3639312"/>
            <a:ext cx="3566160" cy="1024128"/>
          </a:xfrm>
          <a:prstGeom prst="rect">
            <a:avLst/>
          </a:prstGeom>
          <a:solidFill>
            <a:srgbClr val="F0FFF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36941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Claim is the Hub Entity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12080" y="398678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942"/>
                </a:solidFill>
              </a:rPr>
              <a:t>Claim connects directly to 6 entities: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942"/>
                </a:solidFill>
              </a:rPr>
              <a:t>Policy · Customer · Vehicle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942"/>
                </a:solidFill>
              </a:rPr>
              <a:t>Incident · Adjuster · RepairShop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8F0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7914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All entities backed by Fabric Lakehouse Delta tables  ·  Naming convention: table_dim / table_fact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68680"/>
          </a:xfrm>
          <a:prstGeom prst="rect">
            <a:avLst/>
          </a:prstGeom>
          <a:solidFill>
            <a:srgbClr val="003A6E"/>
          </a:solidFill>
          <a:ln w="12700">
            <a:solidFill>
              <a:srgbClr val="00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1-Hop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C4E8"/>
                </a:solidFill>
              </a:rPr>
              <a:t>Single relationship traversal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52360" y="201168"/>
            <a:ext cx="1371600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66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011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</a:rPr>
              <a:t>1 HOP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78992"/>
            <a:ext cx="420624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207008"/>
            <a:ext cx="3950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2"/>
                </a:solidFill>
              </a:rPr>
              <a:t>Who is the adjuster on claim CLM004?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" y="1746504"/>
            <a:ext cx="3950208" cy="246888"/>
          </a:xfrm>
          <a:prstGeom prst="rect">
            <a:avLst/>
          </a:prstGeom>
          <a:solidFill>
            <a:srgbClr val="E8F4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746504"/>
            <a:ext cx="3950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8D4"/>
                </a:solidFill>
              </a:rPr>
              <a:t>PATH:  Claim → Adjuster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2066544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9"/>
                </a:solidFill>
              </a:rPr>
              <a:t>→  Marcus Torres (ADJ001) — Senior Adjuster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107899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78992"/>
            <a:ext cx="4206240" cy="6400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8616" y="1207008"/>
            <a:ext cx="3950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2"/>
                </a:solidFill>
              </a:rPr>
              <a:t>What coverage types does Policy POL003 include?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28616" y="1746504"/>
            <a:ext cx="3950208" cy="246888"/>
          </a:xfrm>
          <a:prstGeom prst="rect">
            <a:avLst/>
          </a:prstGeom>
          <a:solidFill>
            <a:srgbClr val="E6F9F3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1746504"/>
            <a:ext cx="3950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</a:rPr>
              <a:t>PATH:  Policy → Coverage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28616" y="2066544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9"/>
                </a:solidFill>
              </a:rPr>
              <a:t>→  Collision ($90k), Comprehensive ($90k), Liability ($150k)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89504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81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889504"/>
            <a:ext cx="4206240" cy="6400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017520"/>
            <a:ext cx="3950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2"/>
                </a:solidFill>
              </a:rPr>
              <a:t>Which repair shop handled claim CLM001?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" y="3557016"/>
            <a:ext cx="3950208" cy="246888"/>
          </a:xfrm>
          <a:prstGeom prst="rect">
            <a:avLst/>
          </a:prstGeom>
          <a:solidFill>
            <a:srgbClr val="FFF0E8"/>
          </a:solidFill>
          <a:ln w="12700">
            <a:solidFill>
              <a:srgbClr val="F481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557016"/>
            <a:ext cx="3950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812A"/>
                </a:solidFill>
              </a:rPr>
              <a:t>PATH:  Claim → RepairShop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" y="3877056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9"/>
                </a:solidFill>
              </a:rPr>
              <a:t>→  Premier Auto Body (RS001) — Tier 1 certified shop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889504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889504"/>
            <a:ext cx="4206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3017520"/>
            <a:ext cx="3950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942"/>
                </a:solidFill>
              </a:rPr>
              <a:t>What vehicle is insured under Policy POL002?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28616" y="3557016"/>
            <a:ext cx="3950208" cy="246888"/>
          </a:xfrm>
          <a:prstGeom prst="rect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3557016"/>
            <a:ext cx="3950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PATH:  Policy → Vehicle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28616" y="3877056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9"/>
                </a:solidFill>
              </a:rPr>
              <a:t>→  2021 BMW 330i (Black) — Market value $48,000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8F0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914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1-hop queries traverse a single relationship edge in the ontology graph — one JOIN in SQL terms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68680"/>
          </a:xfrm>
          <a:prstGeom prst="rect">
            <a:avLst/>
          </a:prstGeom>
          <a:solidFill>
            <a:srgbClr val="003A6E"/>
          </a:solidFill>
          <a:ln w="12700">
            <a:solidFill>
              <a:srgbClr val="00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2-Hop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C4E8"/>
                </a:solidFill>
              </a:rPr>
              <a:t>Multi-relationship graph traversal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0920" y="201168"/>
            <a:ext cx="14630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0920" y="2011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</a:rPr>
              <a:t>2 HOPS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8412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78992"/>
            <a:ext cx="8412480" cy="64008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070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2"/>
                </a:solidFill>
              </a:rPr>
              <a:t>What coverage types apply to David Kim's policies?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673352"/>
            <a:ext cx="1280160" cy="329184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733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Customer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167335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4FE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94560" y="1673352"/>
            <a:ext cx="1280160" cy="329184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6733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Policy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167335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4FE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86200" y="1673352"/>
            <a:ext cx="1280160" cy="329184"/>
          </a:xfrm>
          <a:prstGeom prst="rect">
            <a:avLst/>
          </a:prstGeom>
          <a:solidFill>
            <a:srgbClr val="5B4FE8"/>
          </a:solidFill>
          <a:ln w="12700">
            <a:solidFill>
              <a:srgbClr val="5B4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16733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Coverage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103120"/>
            <a:ext cx="50292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12140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(c:Customer)-[:PolicyHeldByCustomer]-(p:Policy)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-[:CoverageUnderPolicy]-(cov:Coverage)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c.last_name = 'Kim'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p.policy_number, cov.coverage_type, cov.coverage_limit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577840" y="1207008"/>
            <a:ext cx="2834640" cy="1463040"/>
          </a:xfrm>
          <a:prstGeom prst="rect">
            <a:avLst/>
          </a:prstGeom>
          <a:solidFill>
            <a:srgbClr val="F0FFF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124358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78"/>
                </a:solidFill>
              </a:rPr>
              <a:t>Result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87568" y="153619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942"/>
                </a:solidFill>
              </a:rPr>
              <a:t>POL001: Collision $25k, Comprehensive $25k, Liability $50k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942"/>
                </a:solidFill>
              </a:rPr>
              <a:t>POL009: Collision $40k, Comprehensive $40k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953512"/>
            <a:ext cx="8412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953512"/>
            <a:ext cx="8412480" cy="6400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815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942"/>
                </a:solidFill>
              </a:rPr>
              <a:t>Which adjuster handled the San Francisco multi-vehicle incident?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547872"/>
            <a:ext cx="1280160" cy="32918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5478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Incident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28800" y="354787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78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194560" y="3547872"/>
            <a:ext cx="1280160" cy="32918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0" y="35478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Claim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20440" y="354787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78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886200" y="3547872"/>
            <a:ext cx="1280160" cy="32918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35478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Adjuster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3977640"/>
            <a:ext cx="50292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99592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(inc:Incident)-[:ClaimResultsFromIncident]-(cl:Claim)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-[:ClaimAssignedToAdjuster]-(adj:Adjuster)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inc.incident_id = 'INC006'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inc.incident_type, cl.claim_number, adj.first_name, adj.last_name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577840" y="3081528"/>
            <a:ext cx="2834640" cy="1463040"/>
          </a:xfrm>
          <a:prstGeom prst="rect">
            <a:avLst/>
          </a:prstGeom>
          <a:solidFill>
            <a:srgbClr val="F0FFF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31181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78"/>
                </a:solidFill>
              </a:rPr>
              <a:t>Result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87568" y="341071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942"/>
                </a:solidFill>
              </a:rPr>
              <a:t>INC006 (US-101 S pile-up) → CLM006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942"/>
                </a:solidFill>
              </a:rPr>
              <a:t>→ Marcus Torres (ADJ001) — $45,000 Open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8F0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914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2-hop queries cross two relationship edges — impossible with single-table SQL, effortless with Ontology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0078D4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4114800" cy="4114800"/>
          </a:xfrm>
          <a:prstGeom prst="ellipse">
            <a:avLst/>
          </a:prstGeom>
          <a:solidFill>
            <a:srgbClr val="005A9E">
              <a:alpha val="18000"/>
            </a:srgbClr>
          </a:solidFill>
          <a:ln w="12700">
            <a:solidFill>
              <a:srgbClr val="005A9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CF2"/>
                </a:solidFill>
              </a:rPr>
              <a:t>MICROSOFT FABRIC  ·  ONTOLOGY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It in Action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670048"/>
            <a:ext cx="36576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</a:rPr>
              <a:t>◆  </a:t>
            </a:r>
            <a:pPr indent="0" marL="0">
              <a:buNone/>
            </a:pPr>
            <a:r>
              <a:rPr lang="en-US" sz="1200" dirty="0">
                <a:solidFill>
                  <a:srgbClr val="C8DCF0"/>
                </a:solidFill>
              </a:rPr>
              <a:t>10 entities  ·  11 relationships  ·  Live Lakehouse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</a:rPr>
              <a:t>◆  </a:t>
            </a:r>
            <a:pPr indent="0" marL="0">
              <a:buNone/>
            </a:pPr>
            <a:r>
              <a:rPr lang="en-US" sz="1200" dirty="0">
                <a:solidFill>
                  <a:srgbClr val="C8DCF0"/>
                </a:solidFill>
              </a:rPr>
              <a:t>Natural language  →  GQL  →  JOIN-aware 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</a:rPr>
              <a:t>◆  </a:t>
            </a:r>
            <a:pPr indent="0" marL="0">
              <a:buNone/>
            </a:pPr>
            <a:r>
              <a:rPr lang="en-US" sz="1200" dirty="0">
                <a:solidFill>
                  <a:srgbClr val="C8DCF0"/>
                </a:solidFill>
              </a:rPr>
              <a:t>1-hop and 2-hop graph traversals included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1E48"/>
          </a:solidFill>
          <a:ln w="12700">
            <a:solidFill>
              <a:srgbClr val="001E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731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ED4"/>
                </a:solidFill>
              </a:rPr>
              <a:t>Microsoft Fabric Real-Time Intelligence  ·  Auto Insurance Claims Demo  · 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Insurance Claims Ontology - Microsoft Fabric Demo</dc:title>
  <dc:subject>PptxGenJS Presentation</dc:subject>
  <dc:creator>Microsoft Copilot</dc:creator>
  <cp:lastModifiedBy>Microsoft Copilot</cp:lastModifiedBy>
  <cp:revision>1</cp:revision>
  <dcterms:created xsi:type="dcterms:W3CDTF">2026-04-02T14:59:49Z</dcterms:created>
  <dcterms:modified xsi:type="dcterms:W3CDTF">2026-04-02T14:59:49Z</dcterms:modified>
</cp:coreProperties>
</file>